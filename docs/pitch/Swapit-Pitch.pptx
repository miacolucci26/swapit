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05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[0:12–0:24 · Problema] No falta demanda: falta encontrarse. Hoy el residuo se mueve por conocidos y fotos sueltas, sin precio ni garantía. Las empresas nos lo dijeron: no saben qué hacer con él ni a quién dárselo.
Las tres frases de la izquierda entran una por beat de tu voz. Cifras: 1,8 % de residuos municipales valorizado en 2022 (MINAM); de 1 838 EO-RS activas, 50 tienen planta de valorización (MINAM vía estudio UE); 36 % del mango de 2022 no se exportó = 474 000 t producidas menos 304 034 t exportadas (cálculo propio; incluye consumo interno y proceso, no es solo "desperdicio"). Detalle y fuentes: docs/pitch/investigacion-mercado.md.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[0:24–0:36 · Solución] Swapit es ese lugar de encuentro. Fotografías tu lote y lo publicas. La empresa interesada ve fotos y detalle, y ofrece un precio. Solo con acuerdo se habilita el contacto directo.
Recurso: los tres pasos entran de izquierda a derecha; el video (16 s) es un recorrido real del prototipo: catálogo con fotos, ficha con oferta de precio, aviso de contacto con acuerdo y la vista de impacto. Si falla el video, usa las capturas en docs/pitch/capturas. Transición: empuje horizontal.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[0:36–0:48 · Propuesta de valor] Quien ofrece, vende lo que hoy estorba. Quien busca, consigue materia prima con foto, precio y origen. Cada tonelada llega con su huella: CO₂ evitado, estimado.
Ojo: el CO₂eq usa factores de ejemplo (placeholders). Dilo en voz alta: "estimado". Las vidas de cada residuo (qué se puede hacer con él, de mayor a menor valor) son selección de fuentes abiertas, no validación técnica. Frase de posicionamiento recomendada (alternativa A de investigacion-competencia-modelo.md). Transición: cubrir.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[0:48–1:00 · Modelo de negocio] Solo ganamos si ellos intercambian: certificados de trazabilidad y suscripción para el intermediario que acopia, y una comisión por operación cerrada. Publicar y consultar es gratis.
IMPORTANTE: los montos son [PLACEHOLDER] de investigacion-competencia-modelo.md §4.2 (bajo–alto): suscripción S/ 150 / 300 / 700, certificado S/ 5 / 10 / 20, comisión 2 / 3 / 5 % con tope. Nadie los ha validado todavía: dilo si preguntan. El README y la decisión 0001 decían "sin comisión"; si el equipo decide no cobrar comisión, quita la tercera tarjeta. Riesgo reconocido: desintermediación (el contacto tras el acuerdo es una mitigación, no una garantía). Transición: partir.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[1:00–1:12 · Tamaño de mercado] Empezamos donde vivimos: mango, banano, arroz y concha de abanico de Sechura. El valor del material aprovechable en nuestras cadenas ronda los 46 millones de dólares al año en el Perú; en el norte, empresas que ya pueden transar, unos 4 millones. Nuestro objetivo a tres años son 72 mil dólares de ingresos, con certificados y suscripciones. Empezamos en Piura.
CÓMO SE CALCULA (medio; bajo–alto entre paréntesis): TAM = Σ volumen nacional × fracción aprovechable × precio de referencia = US$ 45,9 M (22,5–79,9). SAM = valor del material en el norte (S/ 61,8 M) × 25 % formal-digital = US$ 4,1 M (1,0–12,5). SOM año 3 = 45 intermediarios × S/ 199 × 12 + 150 generadores × 12 certificados × S/ 80 + comisión 2 % × 40 % de S/ 15 000 × 150 = S/ 269 460 ≈ US$ 71,5 mil (9,9–354,7 mil). Casi todos los precios y fracciones son SUPUESTOS salvo la cascarilla de arroz (S/ 110/t, verificada). Defiéndelo con honestidad: el negocio no depende de una comisión sobre un mercado de materiales grande, sino de certificados y suscripción impulsados por exigencias de cumplimiento (UE/EE. UU.). Dato de contexto: exportaciones 2024 del norte = Piura US$ 3 350 M + Lambayeque US$ 1 033 M + Tumbes US$ 90 M (BCRP). Transición: zoom.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[1:12–1:24 · Diferenciador] Facebook Marketplace es una vitrina. Swapit es un intercambio: oferta dentro de la plataforma, contacto solo con acuerdo, certificado e impacto medido. Y detrás, doce cadenas productivas y cincuenta y dos residuos con sus usos.
No pongas el logo de Facebook: escribe "Marketplace de anuncios". Lo que NO podemos afirmar: "primera", "única" o "mejor" plataforma (la búsqueda de competidores fue limitada); que el contacto tras acuerdo elimine la desintermediación (es una mitigación). El impacto medido NO diferencia (lo ofrecen EME, Recylink, Wazte…); aquí es parte del paquete, no el argumento. Matriz completa de 19 competidores con ✔/◐/✖/[NV] en docs/pitch/investigacion-competencia-modelo.md. Transición: empuje desde abajo; las filas entran una a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[1:24–1:36 · Tracción] Antes de cobrar, validamos. Siete empresas ya nos abrieron la puerta y ofrecieron visitas a planta. Una agroexportadora de mango cierra su descarte con un precio y una fecha de recojo. El prototipo ya funciona.
Solo mostramos lo que podemos sustentar: "7 empresas validadas" es dato del equipo (el detalle no está en el repositorio: ten la lista con fechas); 12 cadenas / 52 residuos y 160 pruebas son datos del repositorio. NO mostramos toneladas ni CO₂ reales (no hay transacciones todavía), ni ingresos, ni "usuarios". Las 33 ofertas son de demostración. Las cifras cuentan hacia arriba si prefieres: el efecto de conteo se hace con la animación de entrada. Transición: fundido.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[1:36–1:48 · Equipo] Somos David Blas y Josué Farfán, de SeedTech UDEP 2026. Construimos el prototipo y salimos a validar con las empresas.
PENDIENTE: reemplaza los círculos con iniciales por la foto real de los dos (idealmente en una visita a planta o ante el prototipo): clic derecho sobre el círculo → Formato de forma → Relleno de imagen. No añadas roles ni organigrama que no estén confirmados. Transición: barrido.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[1:48–2:00 · Call to action] Buscamos una planta para un primer intercambio piloto, y mentores que nos presenten compradores. Su próximo descarte puede tener comprador. Escríbanos.
PENDIENTE: pon el QR y el correo de contacto del equipo en el recuadro punteado (no se inventó ninguno). Si hay un video de cierre (clip 7 del storyboard: camión yéndose, patio limpio), úsalo de fondo con tinta oscura al 60 %. Fundido a negro lento al decir "Escríbanos"; el QR queda en pantalla durante las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[0:00–0:12 · Intro] Esto es mango Kent: dulce por dentro, rechazado por fuera. Cada campaña en Piura deja montañas así. Lo que a uno le sobra, a otro le falta.
Recurso: video de la derecha (hoy una ilustración con movimiento lento; reemplázalo por el clip 1 de Higgsfield, ver docs/pitch/guion-y-storyboard.md). Transición: fundido. Al decir "a otro le falta", corte a la lámina 2. No digas "hola": empieza con el mango.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E23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A9C2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eedtech\simbio\docs\pitch\assets\is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A9C2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falta demanda: falta encontrarse</a:t>
            </a:r>
            <a:endParaRPr lang="en-US" sz="3800" dirty="0"/>
          </a:p>
        </p:txBody>
      </p:sp>
      <p:sp>
        <p:nvSpPr>
          <p:cNvPr id="3" name="Fila0"/>
          <p:cNvSpPr/>
          <p:nvPr/>
        </p:nvSpPr>
        <p:spPr>
          <a:xfrm>
            <a:off x="548640" y="1783080"/>
            <a:ext cx="493776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Circ0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FEE9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X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76272"/>
            <a:ext cx="310896" cy="310896"/>
          </a:xfrm>
          <a:prstGeom prst="rect">
            <a:avLst/>
          </a:prstGeom>
        </p:spPr>
      </p:pic>
      <p:sp>
        <p:nvSpPr>
          <p:cNvPr id="6" name="Texto0"/>
          <p:cNvSpPr txBox="1"/>
          <p:nvPr/>
        </p:nvSpPr>
        <p:spPr>
          <a:xfrm>
            <a:off x="1645920" y="1783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foto</a:t>
            </a:r>
            <a:endParaRPr lang="en-US" sz="3400" dirty="0"/>
          </a:p>
        </p:txBody>
      </p:sp>
      <p:sp>
        <p:nvSpPr>
          <p:cNvPr id="7" name="Fila1"/>
          <p:cNvSpPr/>
          <p:nvPr/>
        </p:nvSpPr>
        <p:spPr>
          <a:xfrm>
            <a:off x="548640" y="3154680"/>
            <a:ext cx="493776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Circ1"/>
          <p:cNvSpPr/>
          <p:nvPr/>
        </p:nvSpPr>
        <p:spPr>
          <a:xfrm>
            <a:off x="777240" y="3383280"/>
            <a:ext cx="640080" cy="640080"/>
          </a:xfrm>
          <a:prstGeom prst="ellipse">
            <a:avLst/>
          </a:prstGeom>
          <a:solidFill>
            <a:srgbClr val="FEE9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X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547872"/>
            <a:ext cx="310896" cy="310896"/>
          </a:xfrm>
          <a:prstGeom prst="rect">
            <a:avLst/>
          </a:prstGeom>
        </p:spPr>
      </p:pic>
      <p:sp>
        <p:nvSpPr>
          <p:cNvPr id="10" name="Texto1"/>
          <p:cNvSpPr txBox="1"/>
          <p:nvPr/>
        </p:nvSpPr>
        <p:spPr>
          <a:xfrm>
            <a:off x="1645920" y="3154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precio</a:t>
            </a:r>
            <a:endParaRPr lang="en-US" sz="3400" dirty="0"/>
          </a:p>
        </p:txBody>
      </p:sp>
      <p:sp>
        <p:nvSpPr>
          <p:cNvPr id="11" name="Fila2"/>
          <p:cNvSpPr/>
          <p:nvPr/>
        </p:nvSpPr>
        <p:spPr>
          <a:xfrm>
            <a:off x="548640" y="4526280"/>
            <a:ext cx="493776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Circ2"/>
          <p:cNvSpPr/>
          <p:nvPr/>
        </p:nvSpPr>
        <p:spPr>
          <a:xfrm>
            <a:off x="777240" y="4754880"/>
            <a:ext cx="640080" cy="640080"/>
          </a:xfrm>
          <a:prstGeom prst="ellipse">
            <a:avLst/>
          </a:prstGeom>
          <a:solidFill>
            <a:srgbClr val="FEE9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X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919472"/>
            <a:ext cx="310896" cy="310896"/>
          </a:xfrm>
          <a:prstGeom prst="rect">
            <a:avLst/>
          </a:prstGeom>
        </p:spPr>
      </p:pic>
      <p:sp>
        <p:nvSpPr>
          <p:cNvPr id="14" name="Texto2"/>
          <p:cNvSpPr txBox="1"/>
          <p:nvPr/>
        </p:nvSpPr>
        <p:spPr>
          <a:xfrm>
            <a:off x="1645920" y="4526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 garantía</a:t>
            </a:r>
            <a:endParaRPr lang="en-US" sz="3400" dirty="0"/>
          </a:p>
        </p:txBody>
      </p:sp>
      <p:sp>
        <p:nvSpPr>
          <p:cNvPr id="15" name="Dato0"/>
          <p:cNvSpPr/>
          <p:nvPr/>
        </p:nvSpPr>
        <p:spPr>
          <a:xfrm>
            <a:off x="5943600" y="1783080"/>
            <a:ext cx="566928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Num0"/>
          <p:cNvSpPr txBox="1"/>
          <p:nvPr/>
        </p:nvSpPr>
        <p:spPr>
          <a:xfrm>
            <a:off x="6126480" y="1783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34E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1,8 %</a:t>
            </a:r>
            <a:endParaRPr lang="en-US" sz="3800" dirty="0"/>
          </a:p>
        </p:txBody>
      </p:sp>
      <p:sp>
        <p:nvSpPr>
          <p:cNvPr id="17" name="Etq0"/>
          <p:cNvSpPr txBox="1"/>
          <p:nvPr/>
        </p:nvSpPr>
        <p:spPr>
          <a:xfrm>
            <a:off x="8503920" y="1783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residuos municipales se valoriza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MINAM, 2022</a:t>
            </a:r>
            <a:endParaRPr lang="en-US" sz="1600" dirty="0"/>
          </a:p>
        </p:txBody>
      </p:sp>
      <p:sp>
        <p:nvSpPr>
          <p:cNvPr id="18" name="Dato1"/>
          <p:cNvSpPr/>
          <p:nvPr/>
        </p:nvSpPr>
        <p:spPr>
          <a:xfrm>
            <a:off x="5943600" y="3154680"/>
            <a:ext cx="566928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Num1"/>
          <p:cNvSpPr txBox="1"/>
          <p:nvPr/>
        </p:nvSpPr>
        <p:spPr>
          <a:xfrm>
            <a:off x="6126480" y="31546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4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de 1 838</a:t>
            </a:r>
            <a:endParaRPr lang="en-US" sz="2600" dirty="0"/>
          </a:p>
        </p:txBody>
      </p:sp>
      <p:sp>
        <p:nvSpPr>
          <p:cNvPr id="20" name="Etq1"/>
          <p:cNvSpPr txBox="1"/>
          <p:nvPr/>
        </p:nvSpPr>
        <p:spPr>
          <a:xfrm>
            <a:off x="8503920" y="31546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residuos tienen planta de valorización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MINAM, vía estudio UE</a:t>
            </a:r>
            <a:endParaRPr lang="en-US" sz="1600" dirty="0"/>
          </a:p>
        </p:txBody>
      </p:sp>
      <p:sp>
        <p:nvSpPr>
          <p:cNvPr id="21" name="Dato2"/>
          <p:cNvSpPr/>
          <p:nvPr/>
        </p:nvSpPr>
        <p:spPr>
          <a:xfrm>
            <a:off x="5943600" y="4526280"/>
            <a:ext cx="5669280" cy="109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Num2"/>
          <p:cNvSpPr txBox="1"/>
          <p:nvPr/>
        </p:nvSpPr>
        <p:spPr>
          <a:xfrm>
            <a:off x="6126480" y="45262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B8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36 %</a:t>
            </a:r>
            <a:endParaRPr lang="en-US" sz="3800" dirty="0"/>
          </a:p>
        </p:txBody>
      </p:sp>
      <p:sp>
        <p:nvSpPr>
          <p:cNvPr id="23" name="Etq2"/>
          <p:cNvSpPr txBox="1"/>
          <p:nvPr/>
        </p:nvSpPr>
        <p:spPr>
          <a:xfrm>
            <a:off x="8503920" y="4526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mango de 2022 no se exportó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Midagri, cálculo propio</a:t>
            </a:r>
            <a:endParaRPr lang="en-US" sz="1600" dirty="0"/>
          </a:p>
        </p:txBody>
      </p:sp>
      <p:sp>
        <p:nvSpPr>
          <p:cNvPr id="24" name="Pie"/>
          <p:cNvSpPr txBox="1"/>
          <p:nvPr/>
        </p:nvSpPr>
        <p:spPr>
          <a:xfrm>
            <a:off x="548640" y="5943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residuo se mueve por conocidos y fotos sueltas. Las empresas nos lo dijeron: no saben qué hacer con él ni a quién dárselo.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Foto, oferta, acuerdo: así se intercambia</a:t>
            </a:r>
            <a:endParaRPr lang="en-US" sz="3600" dirty="0"/>
          </a:p>
        </p:txBody>
      </p:sp>
      <p:sp>
        <p:nvSpPr>
          <p:cNvPr id="3" name="Paso0"/>
          <p:cNvSpPr/>
          <p:nvPr/>
        </p:nvSpPr>
        <p:spPr>
          <a:xfrm>
            <a:off x="548640" y="1691640"/>
            <a:ext cx="1051560" cy="1051560"/>
          </a:xfrm>
          <a:prstGeom prst="ellipse">
            <a:avLst/>
          </a:prstGeom>
          <a:solidFill>
            <a:srgbClr val="2459D6"/>
          </a:solidFill>
          <a:ln/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PasoIco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965960"/>
            <a:ext cx="502920" cy="502920"/>
          </a:xfrm>
          <a:prstGeom prst="rect">
            <a:avLst/>
          </a:prstGeom>
        </p:spPr>
      </p:pic>
      <p:sp>
        <p:nvSpPr>
          <p:cNvPr id="5" name="Num0"/>
          <p:cNvSpPr txBox="1"/>
          <p:nvPr/>
        </p:nvSpPr>
        <p:spPr>
          <a:xfrm>
            <a:off x="1280160" y="1600200"/>
            <a:ext cx="365760" cy="365760"/>
          </a:xfrm>
          <a:prstGeom prst="rect">
            <a:avLst/>
          </a:prstGeom>
          <a:solidFill>
            <a:srgbClr val="FFD60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PasoTxt0"/>
          <p:cNvSpPr txBox="1"/>
          <p:nvPr/>
        </p:nvSpPr>
        <p:spPr>
          <a:xfrm>
            <a:off x="1828800" y="1645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Publica con foto</a:t>
            </a:r>
            <a:endParaRPr lang="en-US" sz="2600" dirty="0"/>
          </a:p>
          <a:p>
            <a:pPr marL="0" indent="0">
              <a:buNone/>
            </a:pPr>
            <a:r>
              <a:rPr lang="en-US" sz="16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y detalle del material</a:t>
            </a:r>
            <a:endParaRPr lang="en-US" sz="2600" dirty="0"/>
          </a:p>
        </p:txBody>
      </p:sp>
      <p:sp>
        <p:nvSpPr>
          <p:cNvPr id="7" name="Paso1"/>
          <p:cNvSpPr/>
          <p:nvPr/>
        </p:nvSpPr>
        <p:spPr>
          <a:xfrm>
            <a:off x="548640" y="3200400"/>
            <a:ext cx="1051560" cy="1051560"/>
          </a:xfrm>
          <a:prstGeom prst="ellipse">
            <a:avLst/>
          </a:prstGeom>
          <a:solidFill>
            <a:srgbClr val="FF8A00"/>
          </a:solidFill>
          <a:ln/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PasoIco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474720"/>
            <a:ext cx="502920" cy="502920"/>
          </a:xfrm>
          <a:prstGeom prst="rect">
            <a:avLst/>
          </a:prstGeom>
        </p:spPr>
      </p:pic>
      <p:sp>
        <p:nvSpPr>
          <p:cNvPr id="9" name="Num1"/>
          <p:cNvSpPr txBox="1"/>
          <p:nvPr/>
        </p:nvSpPr>
        <p:spPr>
          <a:xfrm>
            <a:off x="1280160" y="3108960"/>
            <a:ext cx="365760" cy="365760"/>
          </a:xfrm>
          <a:prstGeom prst="rect">
            <a:avLst/>
          </a:prstGeom>
          <a:solidFill>
            <a:srgbClr val="FFD60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PasoTxt1"/>
          <p:cNvSpPr txBox="1"/>
          <p:nvPr/>
        </p:nvSpPr>
        <p:spPr>
          <a:xfrm>
            <a:off x="1828800" y="3154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Ofrece tu precio</a:t>
            </a:r>
            <a:endParaRPr lang="en-US" sz="2600" dirty="0"/>
          </a:p>
          <a:p>
            <a:pPr marL="0" indent="0">
              <a:buNone/>
            </a:pPr>
            <a:r>
              <a:rPr lang="en-US" sz="16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la plataforma</a:t>
            </a:r>
            <a:endParaRPr lang="en-US" sz="2600" dirty="0"/>
          </a:p>
        </p:txBody>
      </p:sp>
      <p:sp>
        <p:nvSpPr>
          <p:cNvPr id="11" name="Paso2"/>
          <p:cNvSpPr/>
          <p:nvPr/>
        </p:nvSpPr>
        <p:spPr>
          <a:xfrm>
            <a:off x="548640" y="4709160"/>
            <a:ext cx="1051560" cy="1051560"/>
          </a:xfrm>
          <a:prstGeom prst="ellipse">
            <a:avLst/>
          </a:prstGeom>
          <a:solidFill>
            <a:srgbClr val="0C8467"/>
          </a:solidFill>
          <a:ln/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PasoIco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983480"/>
            <a:ext cx="502920" cy="502920"/>
          </a:xfrm>
          <a:prstGeom prst="rect">
            <a:avLst/>
          </a:prstGeom>
        </p:spPr>
      </p:pic>
      <p:sp>
        <p:nvSpPr>
          <p:cNvPr id="13" name="Num2"/>
          <p:cNvSpPr txBox="1"/>
          <p:nvPr/>
        </p:nvSpPr>
        <p:spPr>
          <a:xfrm>
            <a:off x="1280160" y="4617720"/>
            <a:ext cx="365760" cy="365760"/>
          </a:xfrm>
          <a:prstGeom prst="rect">
            <a:avLst/>
          </a:prstGeom>
          <a:solidFill>
            <a:srgbClr val="FFD60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PasoTxt2"/>
          <p:cNvSpPr txBox="1"/>
          <p:nvPr/>
        </p:nvSpPr>
        <p:spPr>
          <a:xfrm>
            <a:off x="1828800" y="46634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Cierra y contacta</a:t>
            </a:r>
            <a:endParaRPr lang="en-US" sz="2600" dirty="0"/>
          </a:p>
          <a:p>
            <a:pPr marL="0" indent="0">
              <a:buNone/>
            </a:pPr>
            <a:r>
              <a:rPr lang="en-US" sz="16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contacto solo llega con el acuerdo</a:t>
            </a:r>
            <a:endParaRPr lang="en-US" sz="2600" dirty="0"/>
          </a:p>
        </p:txBody>
      </p:sp>
      <p:sp>
        <p:nvSpPr>
          <p:cNvPr id="15" name="Marco video"/>
          <p:cNvSpPr/>
          <p:nvPr/>
        </p:nvSpPr>
        <p:spPr>
          <a:xfrm>
            <a:off x="5257800" y="1481328"/>
            <a:ext cx="6537960" cy="3675888"/>
          </a:xfrm>
          <a:prstGeom prst="roundRect">
            <a:avLst>
              <a:gd name="adj" fmla="val 3731"/>
            </a:avLst>
          </a:prstGeom>
          <a:solidFill>
            <a:srgbClr val="0E2352"/>
          </a:solidFill>
          <a:ln/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Video product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358384" y="1572768"/>
            <a:ext cx="6336792" cy="3566160"/>
          </a:xfrm>
          <a:prstGeom prst="rect">
            <a:avLst/>
          </a:prstGeom>
        </p:spPr>
      </p:pic>
      <p:sp>
        <p:nvSpPr>
          <p:cNvPr id="17" name="Pie video"/>
          <p:cNvSpPr txBox="1"/>
          <p:nvPr/>
        </p:nvSpPr>
        <p:spPr>
          <a:xfrm>
            <a:off x="5257800" y="5257800"/>
            <a:ext cx="6537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prototipo con capturas reales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tonelada llega con foto, precio y huella</a:t>
            </a:r>
            <a:endParaRPr lang="en-US" sz="3600" dirty="0"/>
          </a:p>
        </p:txBody>
      </p:sp>
      <p:sp>
        <p:nvSpPr>
          <p:cNvPr id="3" name="CardA"/>
          <p:cNvSpPr/>
          <p:nvPr/>
        </p:nvSpPr>
        <p:spPr>
          <a:xfrm>
            <a:off x="548640" y="1600200"/>
            <a:ext cx="566928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IcA"/>
          <p:cNvSpPr/>
          <p:nvPr/>
        </p:nvSpPr>
        <p:spPr>
          <a:xfrm>
            <a:off x="777240" y="1828800"/>
            <a:ext cx="731520" cy="731520"/>
          </a:xfrm>
          <a:prstGeom prst="ellipse">
            <a:avLst/>
          </a:prstGeom>
          <a:solidFill>
            <a:srgbClr val="FF8A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cImg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11680"/>
            <a:ext cx="365760" cy="365760"/>
          </a:xfrm>
          <a:prstGeom prst="rect">
            <a:avLst/>
          </a:prstGeom>
        </p:spPr>
      </p:pic>
      <p:sp>
        <p:nvSpPr>
          <p:cNvPr id="6" name="NomA"/>
          <p:cNvSpPr txBox="1"/>
          <p:nvPr/>
        </p:nvSpPr>
        <p:spPr>
          <a:xfrm>
            <a:off x="1691640" y="1828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Quien ofrece</a:t>
            </a:r>
            <a:endParaRPr lang="en-US" sz="2600" dirty="0"/>
          </a:p>
        </p:txBody>
      </p:sp>
      <p:sp>
        <p:nvSpPr>
          <p:cNvPr id="7" name="ChipA0"/>
          <p:cNvSpPr/>
          <p:nvPr/>
        </p:nvSpPr>
        <p:spPr>
          <a:xfrm>
            <a:off x="777240" y="2788920"/>
            <a:ext cx="1691640" cy="685800"/>
          </a:xfrm>
          <a:prstGeom prst="roundRect">
            <a:avLst>
              <a:gd name="adj" fmla="val 49333"/>
            </a:avLst>
          </a:prstGeom>
          <a:solidFill>
            <a:srgbClr val="FFE3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ChipTA0"/>
          <p:cNvSpPr txBox="1"/>
          <p:nvPr/>
        </p:nvSpPr>
        <p:spPr>
          <a:xfrm>
            <a:off x="777240" y="2788920"/>
            <a:ext cx="1691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lo que hoy estorba</a:t>
            </a:r>
            <a:endParaRPr lang="en-US" sz="1400" dirty="0"/>
          </a:p>
        </p:txBody>
      </p:sp>
      <p:sp>
        <p:nvSpPr>
          <p:cNvPr id="9" name="ChipA1"/>
          <p:cNvSpPr/>
          <p:nvPr/>
        </p:nvSpPr>
        <p:spPr>
          <a:xfrm>
            <a:off x="2560320" y="2788920"/>
            <a:ext cx="1691640" cy="685800"/>
          </a:xfrm>
          <a:prstGeom prst="roundRect">
            <a:avLst>
              <a:gd name="adj" fmla="val 49333"/>
            </a:avLst>
          </a:prstGeom>
          <a:solidFill>
            <a:srgbClr val="FFE3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ChipTA1"/>
          <p:cNvSpPr txBox="1"/>
          <p:nvPr/>
        </p:nvSpPr>
        <p:spPr>
          <a:xfrm>
            <a:off x="2560320" y="2788920"/>
            <a:ext cx="1691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cuánto vale</a:t>
            </a:r>
            <a:endParaRPr lang="en-US" sz="1400" dirty="0"/>
          </a:p>
        </p:txBody>
      </p:sp>
      <p:sp>
        <p:nvSpPr>
          <p:cNvPr id="11" name="ChipA2"/>
          <p:cNvSpPr/>
          <p:nvPr/>
        </p:nvSpPr>
        <p:spPr>
          <a:xfrm>
            <a:off x="4343400" y="2788920"/>
            <a:ext cx="1691640" cy="685800"/>
          </a:xfrm>
          <a:prstGeom prst="roundRect">
            <a:avLst>
              <a:gd name="adj" fmla="val 49333"/>
            </a:avLst>
          </a:prstGeom>
          <a:solidFill>
            <a:srgbClr val="FFE3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hipTA2"/>
          <p:cNvSpPr txBox="1"/>
          <p:nvPr/>
        </p:nvSpPr>
        <p:spPr>
          <a:xfrm>
            <a:off x="4343400" y="2788920"/>
            <a:ext cx="1691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con acuerdo</a:t>
            </a:r>
            <a:endParaRPr lang="en-US" sz="1400" dirty="0"/>
          </a:p>
        </p:txBody>
      </p:sp>
      <p:sp>
        <p:nvSpPr>
          <p:cNvPr id="13" name="CardB"/>
          <p:cNvSpPr/>
          <p:nvPr/>
        </p:nvSpPr>
        <p:spPr>
          <a:xfrm>
            <a:off x="548640" y="3931920"/>
            <a:ext cx="566928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IcB"/>
          <p:cNvSpPr/>
          <p:nvPr/>
        </p:nvSpPr>
        <p:spPr>
          <a:xfrm>
            <a:off x="777240" y="4160520"/>
            <a:ext cx="731520" cy="731520"/>
          </a:xfrm>
          <a:prstGeom prst="ellipse">
            <a:avLst/>
          </a:prstGeom>
          <a:solidFill>
            <a:srgbClr val="2459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cImgB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400"/>
            <a:ext cx="365760" cy="365760"/>
          </a:xfrm>
          <a:prstGeom prst="rect">
            <a:avLst/>
          </a:prstGeom>
        </p:spPr>
      </p:pic>
      <p:sp>
        <p:nvSpPr>
          <p:cNvPr id="16" name="NomB"/>
          <p:cNvSpPr txBox="1"/>
          <p:nvPr/>
        </p:nvSpPr>
        <p:spPr>
          <a:xfrm>
            <a:off x="1691640" y="41605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Quien busca</a:t>
            </a:r>
            <a:endParaRPr lang="en-US" sz="2600" dirty="0"/>
          </a:p>
        </p:txBody>
      </p:sp>
      <p:sp>
        <p:nvSpPr>
          <p:cNvPr id="17" name="ChipB0"/>
          <p:cNvSpPr/>
          <p:nvPr/>
        </p:nvSpPr>
        <p:spPr>
          <a:xfrm>
            <a:off x="777240" y="5120640"/>
            <a:ext cx="1691640" cy="685800"/>
          </a:xfrm>
          <a:prstGeom prst="roundRect">
            <a:avLst>
              <a:gd name="adj" fmla="val 49333"/>
            </a:avLst>
          </a:prstGeom>
          <a:solidFill>
            <a:srgbClr val="D3E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ChipTB0"/>
          <p:cNvSpPr txBox="1"/>
          <p:nvPr/>
        </p:nvSpPr>
        <p:spPr>
          <a:xfrm>
            <a:off x="777240" y="5120640"/>
            <a:ext cx="1691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 con foto</a:t>
            </a:r>
            <a:endParaRPr lang="en-US" sz="1400" dirty="0"/>
          </a:p>
        </p:txBody>
      </p:sp>
      <p:sp>
        <p:nvSpPr>
          <p:cNvPr id="19" name="ChipB1"/>
          <p:cNvSpPr/>
          <p:nvPr/>
        </p:nvSpPr>
        <p:spPr>
          <a:xfrm>
            <a:off x="2560320" y="5120640"/>
            <a:ext cx="1691640" cy="685800"/>
          </a:xfrm>
          <a:prstGeom prst="roundRect">
            <a:avLst>
              <a:gd name="adj" fmla="val 49333"/>
            </a:avLst>
          </a:prstGeom>
          <a:solidFill>
            <a:srgbClr val="D3E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ChipTB1"/>
          <p:cNvSpPr txBox="1"/>
          <p:nvPr/>
        </p:nvSpPr>
        <p:spPr>
          <a:xfrm>
            <a:off x="2560320" y="5120640"/>
            <a:ext cx="1691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 su precio</a:t>
            </a:r>
            <a:endParaRPr lang="en-US" sz="1400" dirty="0"/>
          </a:p>
        </p:txBody>
      </p:sp>
      <p:sp>
        <p:nvSpPr>
          <p:cNvPr id="21" name="ChipB2"/>
          <p:cNvSpPr/>
          <p:nvPr/>
        </p:nvSpPr>
        <p:spPr>
          <a:xfrm>
            <a:off x="4343400" y="5120640"/>
            <a:ext cx="1691640" cy="685800"/>
          </a:xfrm>
          <a:prstGeom prst="roundRect">
            <a:avLst>
              <a:gd name="adj" fmla="val 49333"/>
            </a:avLst>
          </a:prstGeom>
          <a:solidFill>
            <a:srgbClr val="D3E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ChipTB2"/>
          <p:cNvSpPr txBox="1"/>
          <p:nvPr/>
        </p:nvSpPr>
        <p:spPr>
          <a:xfrm>
            <a:off x="4343400" y="5120640"/>
            <a:ext cx="16916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2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el origen</a:t>
            </a:r>
            <a:endParaRPr lang="en-US" sz="1400" dirty="0"/>
          </a:p>
        </p:txBody>
      </p:sp>
      <p:pic>
        <p:nvPicPr>
          <p:cNvPr id="23" name="Impacto" descr="D:\Seedtech\simbio\docs\pitch\capturas\actividad-impac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00200"/>
            <a:ext cx="5120640" cy="1490472"/>
          </a:xfrm>
          <a:prstGeom prst="rect">
            <a:avLst/>
          </a:prstGeom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</p:pic>
      <p:sp>
        <p:nvSpPr>
          <p:cNvPr id="24" name="PieImpacto"/>
          <p:cNvSpPr txBox="1"/>
          <p:nvPr/>
        </p:nvSpPr>
        <p:spPr>
          <a:xfrm>
            <a:off x="6492240" y="3154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del prototipo: impacto estimado con factores de ejemplo</a:t>
            </a:r>
            <a:endParaRPr lang="en-US" sz="1200" dirty="0"/>
          </a:p>
        </p:txBody>
      </p:sp>
      <p:sp>
        <p:nvSpPr>
          <p:cNvPr id="25" name="Frase fondo"/>
          <p:cNvSpPr/>
          <p:nvPr/>
        </p:nvSpPr>
        <p:spPr>
          <a:xfrm>
            <a:off x="6492240" y="3657600"/>
            <a:ext cx="5120640" cy="2377440"/>
          </a:xfrm>
          <a:prstGeom prst="roundRect">
            <a:avLst>
              <a:gd name="adj" fmla="val 7692"/>
            </a:avLst>
          </a:prstGeom>
          <a:solidFill>
            <a:srgbClr val="FF8A00"/>
          </a:solidFill>
          <a:ln/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Frase"/>
          <p:cNvSpPr txBox="1"/>
          <p:nvPr/>
        </p:nvSpPr>
        <p:spPr>
          <a:xfrm>
            <a:off x="6766560" y="38404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Sabe qué hacer con tu residuo y a quién venderlo, con precio y trazabilidad.</a:t>
            </a:r>
            <a:endParaRPr lang="en-US" sz="2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 ganamos si ellos intercambian</a:t>
            </a:r>
            <a:endParaRPr lang="en-US" sz="3800" dirty="0"/>
          </a:p>
        </p:txBody>
      </p:sp>
      <p:sp>
        <p:nvSpPr>
          <p:cNvPr id="3" name="LadoA"/>
          <p:cNvSpPr/>
          <p:nvPr/>
        </p:nvSpPr>
        <p:spPr>
          <a:xfrm>
            <a:off x="548640" y="1600200"/>
            <a:ext cx="3017520" cy="1554480"/>
          </a:xfrm>
          <a:prstGeom prst="roundRect">
            <a:avLst>
              <a:gd name="adj" fmla="val 11765"/>
            </a:avLst>
          </a:prstGeom>
          <a:solidFill>
            <a:srgbClr val="B34E00"/>
          </a:solidFill>
          <a:ln/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LadoIc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502920" cy="502920"/>
          </a:xfrm>
          <a:prstGeom prst="rect">
            <a:avLst/>
          </a:prstGeom>
        </p:spPr>
      </p:pic>
      <p:sp>
        <p:nvSpPr>
          <p:cNvPr id="5" name="LadoTA"/>
          <p:cNvSpPr txBox="1"/>
          <p:nvPr/>
        </p:nvSpPr>
        <p:spPr>
          <a:xfrm>
            <a:off x="82296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Ofertante</a:t>
            </a:r>
            <a:endParaRPr lang="en-US" sz="2600" dirty="0"/>
          </a:p>
        </p:txBody>
      </p:sp>
      <p:sp>
        <p:nvSpPr>
          <p:cNvPr id="6" name="LadoB"/>
          <p:cNvSpPr/>
          <p:nvPr/>
        </p:nvSpPr>
        <p:spPr>
          <a:xfrm>
            <a:off x="8622792" y="1600200"/>
            <a:ext cx="3017520" cy="1554480"/>
          </a:xfrm>
          <a:prstGeom prst="roundRect">
            <a:avLst>
              <a:gd name="adj" fmla="val 11765"/>
            </a:avLst>
          </a:prstGeom>
          <a:solidFill>
            <a:srgbClr val="2459D6"/>
          </a:solidFill>
          <a:ln/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LadoIcB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112" y="1920240"/>
            <a:ext cx="502920" cy="502920"/>
          </a:xfrm>
          <a:prstGeom prst="rect">
            <a:avLst/>
          </a:prstGeom>
        </p:spPr>
      </p:pic>
      <p:sp>
        <p:nvSpPr>
          <p:cNvPr id="8" name="LadoTB"/>
          <p:cNvSpPr txBox="1"/>
          <p:nvPr/>
        </p:nvSpPr>
        <p:spPr>
          <a:xfrm>
            <a:off x="8897112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Demandante</a:t>
            </a:r>
            <a:endParaRPr lang="en-US" sz="2600" dirty="0"/>
          </a:p>
        </p:txBody>
      </p:sp>
      <p:sp>
        <p:nvSpPr>
          <p:cNvPr id="9" name="Centro"/>
          <p:cNvSpPr/>
          <p:nvPr/>
        </p:nvSpPr>
        <p:spPr>
          <a:xfrm>
            <a:off x="4937760" y="1417320"/>
            <a:ext cx="1920240" cy="1920240"/>
          </a:xfrm>
          <a:prstGeom prst="ellipse">
            <a:avLst/>
          </a:prstGeom>
          <a:solidFill>
            <a:srgbClr val="0E2352"/>
          </a:solidFill>
          <a:ln/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CentroIso" descr="D:\Seedtech\simbio\docs\pitch\assets\isotipo-bl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874520"/>
            <a:ext cx="1005840" cy="1005840"/>
          </a:xfrm>
          <a:prstGeom prst="rect">
            <a:avLst/>
          </a:prstGeom>
        </p:spPr>
      </p:pic>
      <p:pic>
        <p:nvPicPr>
          <p:cNvPr id="11" name="Flech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2103120"/>
            <a:ext cx="731520" cy="548640"/>
          </a:xfrm>
          <a:prstGeom prst="rect">
            <a:avLst/>
          </a:prstGeom>
        </p:spPr>
      </p:pic>
      <p:pic>
        <p:nvPicPr>
          <p:cNvPr id="12" name="FlechaD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103120"/>
            <a:ext cx="731520" cy="548640"/>
          </a:xfrm>
          <a:prstGeom prst="rect">
            <a:avLst/>
          </a:prstGeom>
        </p:spPr>
      </p:pic>
      <p:sp>
        <p:nvSpPr>
          <p:cNvPr id="13" name="Ing0"/>
          <p:cNvSpPr/>
          <p:nvPr/>
        </p:nvSpPr>
        <p:spPr>
          <a:xfrm>
            <a:off x="548640" y="3611880"/>
            <a:ext cx="3566160" cy="22402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IngC0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rgbClr val="2459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ngI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3995928"/>
            <a:ext cx="329184" cy="329184"/>
          </a:xfrm>
          <a:prstGeom prst="rect">
            <a:avLst/>
          </a:prstGeom>
        </p:spPr>
      </p:pic>
      <p:sp>
        <p:nvSpPr>
          <p:cNvPr id="16" name="IngN0"/>
          <p:cNvSpPr txBox="1"/>
          <p:nvPr/>
        </p:nvSpPr>
        <p:spPr>
          <a:xfrm>
            <a:off x="155448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Certificado de trazabilidad</a:t>
            </a:r>
            <a:endParaRPr lang="en-US" sz="1700" dirty="0"/>
          </a:p>
        </p:txBody>
      </p:sp>
      <p:sp>
        <p:nvSpPr>
          <p:cNvPr id="17" name="IngM0"/>
          <p:cNvSpPr txBox="1"/>
          <p:nvPr/>
        </p:nvSpPr>
        <p:spPr>
          <a:xfrm>
            <a:off x="777240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459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 5–20</a:t>
            </a:r>
            <a:endParaRPr lang="en-US" sz="3800" dirty="0"/>
          </a:p>
        </p:txBody>
      </p:sp>
      <p:sp>
        <p:nvSpPr>
          <p:cNvPr id="18" name="IngU0"/>
          <p:cNvSpPr txBox="1"/>
          <p:nvPr/>
        </p:nvSpPr>
        <p:spPr>
          <a:xfrm>
            <a:off x="777240" y="5257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certificado</a:t>
            </a:r>
            <a:endParaRPr lang="en-US" sz="1500" dirty="0"/>
          </a:p>
        </p:txBody>
      </p:sp>
      <p:sp>
        <p:nvSpPr>
          <p:cNvPr id="19" name="Ing1"/>
          <p:cNvSpPr/>
          <p:nvPr/>
        </p:nvSpPr>
        <p:spPr>
          <a:xfrm>
            <a:off x="4389120" y="3611880"/>
            <a:ext cx="3566160" cy="22402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IngC1"/>
          <p:cNvSpPr/>
          <p:nvPr/>
        </p:nvSpPr>
        <p:spPr>
          <a:xfrm>
            <a:off x="4617720" y="3840480"/>
            <a:ext cx="640080" cy="640080"/>
          </a:xfrm>
          <a:prstGeom prst="ellipse">
            <a:avLst/>
          </a:prstGeom>
          <a:solidFill>
            <a:srgbClr val="B34E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ngI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3995928"/>
            <a:ext cx="329184" cy="329184"/>
          </a:xfrm>
          <a:prstGeom prst="rect">
            <a:avLst/>
          </a:prstGeom>
        </p:spPr>
      </p:pic>
      <p:sp>
        <p:nvSpPr>
          <p:cNvPr id="22" name="IngN1"/>
          <p:cNvSpPr txBox="1"/>
          <p:nvPr/>
        </p:nvSpPr>
        <p:spPr>
          <a:xfrm>
            <a:off x="539496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Suscripción del intermediario</a:t>
            </a:r>
            <a:endParaRPr lang="en-US" sz="1700" dirty="0"/>
          </a:p>
        </p:txBody>
      </p:sp>
      <p:sp>
        <p:nvSpPr>
          <p:cNvPr id="23" name="IngM1"/>
          <p:cNvSpPr txBox="1"/>
          <p:nvPr/>
        </p:nvSpPr>
        <p:spPr>
          <a:xfrm>
            <a:off x="4617720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34E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 150–700</a:t>
            </a:r>
            <a:endParaRPr lang="en-US" sz="3800" dirty="0"/>
          </a:p>
        </p:txBody>
      </p:sp>
      <p:sp>
        <p:nvSpPr>
          <p:cNvPr id="24" name="IngU1"/>
          <p:cNvSpPr txBox="1"/>
          <p:nvPr/>
        </p:nvSpPr>
        <p:spPr>
          <a:xfrm>
            <a:off x="4617720" y="5257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500" dirty="0"/>
          </a:p>
        </p:txBody>
      </p:sp>
      <p:sp>
        <p:nvSpPr>
          <p:cNvPr id="25" name="Ing2"/>
          <p:cNvSpPr/>
          <p:nvPr/>
        </p:nvSpPr>
        <p:spPr>
          <a:xfrm>
            <a:off x="8229600" y="3611880"/>
            <a:ext cx="3566160" cy="224028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IngC2"/>
          <p:cNvSpPr/>
          <p:nvPr/>
        </p:nvSpPr>
        <p:spPr>
          <a:xfrm>
            <a:off x="8458200" y="3840480"/>
            <a:ext cx="640080" cy="640080"/>
          </a:xfrm>
          <a:prstGeom prst="ellipse">
            <a:avLst/>
          </a:prstGeom>
          <a:solidFill>
            <a:srgbClr val="0C84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ngI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3648" y="3995928"/>
            <a:ext cx="329184" cy="329184"/>
          </a:xfrm>
          <a:prstGeom prst="rect">
            <a:avLst/>
          </a:prstGeom>
        </p:spPr>
      </p:pic>
      <p:sp>
        <p:nvSpPr>
          <p:cNvPr id="28" name="IngN2"/>
          <p:cNvSpPr txBox="1"/>
          <p:nvPr/>
        </p:nvSpPr>
        <p:spPr>
          <a:xfrm>
            <a:off x="923544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Comisión por cierre</a:t>
            </a:r>
            <a:endParaRPr lang="en-US" sz="1700" dirty="0"/>
          </a:p>
        </p:txBody>
      </p:sp>
      <p:sp>
        <p:nvSpPr>
          <p:cNvPr id="29" name="IngM2"/>
          <p:cNvSpPr txBox="1"/>
          <p:nvPr/>
        </p:nvSpPr>
        <p:spPr>
          <a:xfrm>
            <a:off x="8458200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C84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2–5 %</a:t>
            </a:r>
            <a:endParaRPr lang="en-US" sz="3800" dirty="0"/>
          </a:p>
        </p:txBody>
      </p:sp>
      <p:sp>
        <p:nvSpPr>
          <p:cNvPr id="30" name="IngU2"/>
          <p:cNvSpPr txBox="1"/>
          <p:nvPr/>
        </p:nvSpPr>
        <p:spPr>
          <a:xfrm>
            <a:off x="8458200" y="5257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tope por operación</a:t>
            </a:r>
            <a:endParaRPr lang="en-US" sz="1500" dirty="0"/>
          </a:p>
        </p:txBody>
      </p:sp>
      <p:sp>
        <p:nvSpPr>
          <p:cNvPr id="31" name="Pie"/>
          <p:cNvSpPr txBox="1"/>
          <p:nvPr/>
        </p:nvSpPr>
        <p:spPr>
          <a:xfrm>
            <a:off x="5486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Publicar, ofertar y consultar los usos de cada residuo es gratis: es el gancho. Precios por validar con las empresas.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Empezamos en Piura; el norte es el mercado</a:t>
            </a:r>
            <a:endParaRPr lang="en-US" sz="3600" dirty="0"/>
          </a:p>
        </p:txBody>
      </p:sp>
      <p:sp>
        <p:nvSpPr>
          <p:cNvPr id="3" name="TAM"/>
          <p:cNvSpPr/>
          <p:nvPr/>
        </p:nvSpPr>
        <p:spPr>
          <a:xfrm>
            <a:off x="1005840" y="1417320"/>
            <a:ext cx="4114800" cy="4114800"/>
          </a:xfrm>
          <a:prstGeom prst="ellipse">
            <a:avLst/>
          </a:prstGeom>
          <a:solidFill>
            <a:srgbClr val="D3E0F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AM"/>
          <p:cNvSpPr/>
          <p:nvPr/>
        </p:nvSpPr>
        <p:spPr>
          <a:xfrm>
            <a:off x="1691640" y="2788920"/>
            <a:ext cx="2743200" cy="2743200"/>
          </a:xfrm>
          <a:prstGeom prst="ellipse">
            <a:avLst/>
          </a:prstGeom>
          <a:solidFill>
            <a:srgbClr val="2459D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OM"/>
          <p:cNvSpPr/>
          <p:nvPr/>
        </p:nvSpPr>
        <p:spPr>
          <a:xfrm>
            <a:off x="2400300" y="4206240"/>
            <a:ext cx="1325880" cy="1325880"/>
          </a:xfrm>
          <a:prstGeom prst="ellipse">
            <a:avLst/>
          </a:prstGeom>
          <a:solidFill>
            <a:srgbClr val="FF8A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AMt"/>
          <p:cNvSpPr txBox="1"/>
          <p:nvPr/>
        </p:nvSpPr>
        <p:spPr>
          <a:xfrm>
            <a:off x="2331720" y="1463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800" dirty="0"/>
          </a:p>
        </p:txBody>
      </p:sp>
      <p:sp>
        <p:nvSpPr>
          <p:cNvPr id="7" name="SAMt"/>
          <p:cNvSpPr txBox="1"/>
          <p:nvPr/>
        </p:nvSpPr>
        <p:spPr>
          <a:xfrm>
            <a:off x="233172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800" dirty="0"/>
          </a:p>
        </p:txBody>
      </p:sp>
      <p:sp>
        <p:nvSpPr>
          <p:cNvPr id="8" name="SOMt"/>
          <p:cNvSpPr txBox="1"/>
          <p:nvPr/>
        </p:nvSpPr>
        <p:spPr>
          <a:xfrm>
            <a:off x="2423160" y="4617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800" dirty="0"/>
          </a:p>
        </p:txBody>
      </p:sp>
      <p:sp>
        <p:nvSpPr>
          <p:cNvPr id="9" name="Niv0"/>
          <p:cNvSpPr/>
          <p:nvPr/>
        </p:nvSpPr>
        <p:spPr>
          <a:xfrm>
            <a:off x="5806440" y="1600200"/>
            <a:ext cx="580644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NivN0"/>
          <p:cNvSpPr txBox="1"/>
          <p:nvPr/>
        </p:nvSpPr>
        <p:spPr>
          <a:xfrm>
            <a:off x="5989320" y="160020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4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US$ 46 M</a:t>
            </a:r>
            <a:endParaRPr lang="en-US" sz="3400" dirty="0"/>
          </a:p>
        </p:txBody>
      </p:sp>
      <p:sp>
        <p:nvSpPr>
          <p:cNvPr id="11" name="NivT0"/>
          <p:cNvSpPr txBox="1"/>
          <p:nvPr/>
        </p:nvSpPr>
        <p:spPr>
          <a:xfrm>
            <a:off x="8686800" y="16002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cadenas objetivo del Perú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23–80 M al año</a:t>
            </a:r>
            <a:endParaRPr lang="en-US" sz="1400" dirty="0"/>
          </a:p>
        </p:txBody>
      </p:sp>
      <p:sp>
        <p:nvSpPr>
          <p:cNvPr id="12" name="Niv1"/>
          <p:cNvSpPr/>
          <p:nvPr/>
        </p:nvSpPr>
        <p:spPr>
          <a:xfrm>
            <a:off x="5806440" y="2788920"/>
            <a:ext cx="580644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NivN1"/>
          <p:cNvSpPr txBox="1"/>
          <p:nvPr/>
        </p:nvSpPr>
        <p:spPr>
          <a:xfrm>
            <a:off x="5989320" y="278892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459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US$ 4 M</a:t>
            </a:r>
            <a:endParaRPr lang="en-US" sz="3400" dirty="0"/>
          </a:p>
        </p:txBody>
      </p:sp>
      <p:sp>
        <p:nvSpPr>
          <p:cNvPr id="14" name="NivT1"/>
          <p:cNvSpPr txBox="1"/>
          <p:nvPr/>
        </p:nvSpPr>
        <p:spPr>
          <a:xfrm>
            <a:off x="8686800" y="27889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· norte, empresas que ya pueden transar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1–12 M al año</a:t>
            </a:r>
            <a:endParaRPr lang="en-US" sz="1400" dirty="0"/>
          </a:p>
        </p:txBody>
      </p:sp>
      <p:sp>
        <p:nvSpPr>
          <p:cNvPr id="15" name="Niv2"/>
          <p:cNvSpPr/>
          <p:nvPr/>
        </p:nvSpPr>
        <p:spPr>
          <a:xfrm>
            <a:off x="5806440" y="3977640"/>
            <a:ext cx="5806440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NivN2"/>
          <p:cNvSpPr txBox="1"/>
          <p:nvPr/>
        </p:nvSpPr>
        <p:spPr>
          <a:xfrm>
            <a:off x="5989320" y="39776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34E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US$ 72 mil</a:t>
            </a:r>
            <a:endParaRPr lang="en-US" sz="3000" dirty="0"/>
          </a:p>
        </p:txBody>
      </p:sp>
      <p:sp>
        <p:nvSpPr>
          <p:cNvPr id="17" name="NivT2"/>
          <p:cNvSpPr txBox="1"/>
          <p:nvPr/>
        </p:nvSpPr>
        <p:spPr>
          <a:xfrm>
            <a:off x="8686800" y="39776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· ingresos de Swapit en el año 3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10–355 mil</a:t>
            </a:r>
            <a:endParaRPr lang="en-US" sz="1400" dirty="0"/>
          </a:p>
        </p:txBody>
      </p:sp>
      <p:sp>
        <p:nvSpPr>
          <p:cNvPr id="18" name="Banda"/>
          <p:cNvSpPr/>
          <p:nvPr/>
        </p:nvSpPr>
        <p:spPr>
          <a:xfrm>
            <a:off x="5806440" y="5120640"/>
            <a:ext cx="5806440" cy="731520"/>
          </a:xfrm>
          <a:prstGeom prst="roundRect">
            <a:avLst>
              <a:gd name="adj" fmla="val 25000"/>
            </a:avLst>
          </a:prstGeom>
          <a:solidFill>
            <a:srgbClr val="0E23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BandaT"/>
          <p:cNvSpPr txBox="1"/>
          <p:nvPr/>
        </p:nvSpPr>
        <p:spPr>
          <a:xfrm>
            <a:off x="598932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US$ 4 473 M </a:t>
            </a: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exportó el norte en 2024 · 5,9 % del Perú</a:t>
            </a:r>
            <a:endParaRPr lang="en-US" sz="2200" dirty="0"/>
          </a:p>
        </p:txBody>
      </p:sp>
      <p:sp>
        <p:nvSpPr>
          <p:cNvPr id="20" name="Pie"/>
          <p:cNvSpPr txBox="1"/>
          <p:nvPr/>
        </p:nvSpPr>
        <p:spPr>
          <a:xfrm>
            <a:off x="54864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conservadora del valor anual del material aprovechable; supuestos en docs/pitch/investigacion-mercado.md.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 es vitrina; Swapit cierra el trato</a:t>
            </a:r>
            <a:endParaRPr lang="en-US" sz="3600" dirty="0"/>
          </a:p>
        </p:txBody>
      </p:sp>
      <p:sp>
        <p:nvSpPr>
          <p:cNvPr id="3" name="ColA"/>
          <p:cNvSpPr txBox="1"/>
          <p:nvPr/>
        </p:nvSpPr>
        <p:spPr>
          <a:xfrm>
            <a:off x="5577840" y="1417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 de anuncios</a:t>
            </a:r>
            <a:endParaRPr lang="en-US" sz="1600" dirty="0"/>
          </a:p>
        </p:txBody>
      </p:sp>
      <p:sp>
        <p:nvSpPr>
          <p:cNvPr id="4" name="ColBFondo"/>
          <p:cNvSpPr/>
          <p:nvPr/>
        </p:nvSpPr>
        <p:spPr>
          <a:xfrm>
            <a:off x="8732520" y="1371600"/>
            <a:ext cx="2880360" cy="594360"/>
          </a:xfrm>
          <a:prstGeom prst="roundRect">
            <a:avLst>
              <a:gd name="adj" fmla="val 46154"/>
            </a:avLst>
          </a:prstGeom>
          <a:solidFill>
            <a:srgbClr val="FF8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ColB"/>
          <p:cNvSpPr txBox="1"/>
          <p:nvPr/>
        </p:nvSpPr>
        <p:spPr>
          <a:xfrm>
            <a:off x="8732520" y="13716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Swapit</a:t>
            </a:r>
            <a:endParaRPr lang="en-US" sz="2000" dirty="0"/>
          </a:p>
        </p:txBody>
      </p:sp>
      <p:sp>
        <p:nvSpPr>
          <p:cNvPr id="6" name="Row0"/>
          <p:cNvSpPr/>
          <p:nvPr/>
        </p:nvSpPr>
        <p:spPr>
          <a:xfrm>
            <a:off x="548640" y="2103120"/>
            <a:ext cx="110642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wC0"/>
          <p:cNvSpPr/>
          <p:nvPr/>
        </p:nvSpPr>
        <p:spPr>
          <a:xfrm>
            <a:off x="731520" y="2194560"/>
            <a:ext cx="475488" cy="475488"/>
          </a:xfrm>
          <a:prstGeom prst="ellipse">
            <a:avLst/>
          </a:prstGeom>
          <a:solidFill>
            <a:srgbClr val="2459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RowI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313432"/>
            <a:ext cx="237744" cy="237744"/>
          </a:xfrm>
          <a:prstGeom prst="rect">
            <a:avLst/>
          </a:prstGeom>
        </p:spPr>
      </p:pic>
      <p:sp>
        <p:nvSpPr>
          <p:cNvPr id="9" name="RowT0"/>
          <p:cNvSpPr txBox="1"/>
          <p:nvPr/>
        </p:nvSpPr>
        <p:spPr>
          <a:xfrm>
            <a:off x="1417320" y="21031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de precio dentro de la plataforma</a:t>
            </a:r>
            <a:endParaRPr lang="en-US" sz="1800" dirty="0"/>
          </a:p>
        </p:txBody>
      </p:sp>
      <p:pic>
        <p:nvPicPr>
          <p:cNvPr id="10" name="No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258568"/>
            <a:ext cx="347472" cy="347472"/>
          </a:xfrm>
          <a:prstGeom prst="rect">
            <a:avLst/>
          </a:prstGeom>
        </p:spPr>
      </p:pic>
      <p:pic>
        <p:nvPicPr>
          <p:cNvPr id="11" name="Si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2240280"/>
            <a:ext cx="384048" cy="384048"/>
          </a:xfrm>
          <a:prstGeom prst="rect">
            <a:avLst/>
          </a:prstGeom>
        </p:spPr>
      </p:pic>
      <p:sp>
        <p:nvSpPr>
          <p:cNvPr id="12" name="Row1"/>
          <p:cNvSpPr/>
          <p:nvPr/>
        </p:nvSpPr>
        <p:spPr>
          <a:xfrm>
            <a:off x="548640" y="2871216"/>
            <a:ext cx="110642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owC1"/>
          <p:cNvSpPr/>
          <p:nvPr/>
        </p:nvSpPr>
        <p:spPr>
          <a:xfrm>
            <a:off x="731520" y="2962656"/>
            <a:ext cx="475488" cy="475488"/>
          </a:xfrm>
          <a:prstGeom prst="ellipse">
            <a:avLst/>
          </a:prstGeom>
          <a:solidFill>
            <a:srgbClr val="2459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RowI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3081528"/>
            <a:ext cx="237744" cy="237744"/>
          </a:xfrm>
          <a:prstGeom prst="rect">
            <a:avLst/>
          </a:prstGeom>
        </p:spPr>
      </p:pic>
      <p:sp>
        <p:nvSpPr>
          <p:cNvPr id="15" name="RowT1"/>
          <p:cNvSpPr txBox="1"/>
          <p:nvPr/>
        </p:nvSpPr>
        <p:spPr>
          <a:xfrm>
            <a:off x="1417320" y="28712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solo con acuerdo</a:t>
            </a:r>
            <a:endParaRPr lang="en-US" sz="1800" dirty="0"/>
          </a:p>
        </p:txBody>
      </p:sp>
      <p:pic>
        <p:nvPicPr>
          <p:cNvPr id="16" name="No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026664"/>
            <a:ext cx="347472" cy="347472"/>
          </a:xfrm>
          <a:prstGeom prst="rect">
            <a:avLst/>
          </a:prstGeom>
        </p:spPr>
      </p:pic>
      <p:pic>
        <p:nvPicPr>
          <p:cNvPr id="17" name="Si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3008376"/>
            <a:ext cx="384048" cy="384048"/>
          </a:xfrm>
          <a:prstGeom prst="rect">
            <a:avLst/>
          </a:prstGeom>
        </p:spPr>
      </p:pic>
      <p:sp>
        <p:nvSpPr>
          <p:cNvPr id="18" name="Row2"/>
          <p:cNvSpPr/>
          <p:nvPr/>
        </p:nvSpPr>
        <p:spPr>
          <a:xfrm>
            <a:off x="548640" y="3639312"/>
            <a:ext cx="110642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wC2"/>
          <p:cNvSpPr/>
          <p:nvPr/>
        </p:nvSpPr>
        <p:spPr>
          <a:xfrm>
            <a:off x="731520" y="3730752"/>
            <a:ext cx="475488" cy="475488"/>
          </a:xfrm>
          <a:prstGeom prst="ellipse">
            <a:avLst/>
          </a:prstGeom>
          <a:solidFill>
            <a:srgbClr val="2459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RowI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3849624"/>
            <a:ext cx="237744" cy="237744"/>
          </a:xfrm>
          <a:prstGeom prst="rect">
            <a:avLst/>
          </a:prstGeom>
        </p:spPr>
      </p:pic>
      <p:sp>
        <p:nvSpPr>
          <p:cNvPr id="21" name="RowT2"/>
          <p:cNvSpPr txBox="1"/>
          <p:nvPr/>
        </p:nvSpPr>
        <p:spPr>
          <a:xfrm>
            <a:off x="1417320" y="363931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y compradores de cada residuo</a:t>
            </a:r>
            <a:endParaRPr lang="en-US" sz="1800" dirty="0"/>
          </a:p>
        </p:txBody>
      </p:sp>
      <p:pic>
        <p:nvPicPr>
          <p:cNvPr id="22" name="No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794760"/>
            <a:ext cx="347472" cy="347472"/>
          </a:xfrm>
          <a:prstGeom prst="rect">
            <a:avLst/>
          </a:prstGeom>
        </p:spPr>
      </p:pic>
      <p:pic>
        <p:nvPicPr>
          <p:cNvPr id="23" name="Si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3776472"/>
            <a:ext cx="384048" cy="384048"/>
          </a:xfrm>
          <a:prstGeom prst="rect">
            <a:avLst/>
          </a:prstGeom>
        </p:spPr>
      </p:pic>
      <p:sp>
        <p:nvSpPr>
          <p:cNvPr id="24" name="Row3"/>
          <p:cNvSpPr/>
          <p:nvPr/>
        </p:nvSpPr>
        <p:spPr>
          <a:xfrm>
            <a:off x="548640" y="4407408"/>
            <a:ext cx="110642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wC3"/>
          <p:cNvSpPr/>
          <p:nvPr/>
        </p:nvSpPr>
        <p:spPr>
          <a:xfrm>
            <a:off x="731520" y="4498848"/>
            <a:ext cx="475488" cy="475488"/>
          </a:xfrm>
          <a:prstGeom prst="ellipse">
            <a:avLst/>
          </a:prstGeom>
          <a:solidFill>
            <a:srgbClr val="2459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RowI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" y="4617720"/>
            <a:ext cx="237744" cy="237744"/>
          </a:xfrm>
          <a:prstGeom prst="rect">
            <a:avLst/>
          </a:prstGeom>
        </p:spPr>
      </p:pic>
      <p:sp>
        <p:nvSpPr>
          <p:cNvPr id="27" name="RowT3"/>
          <p:cNvSpPr txBox="1"/>
          <p:nvPr/>
        </p:nvSpPr>
        <p:spPr>
          <a:xfrm>
            <a:off x="1417320" y="440740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de trazabilidad con QR</a:t>
            </a:r>
            <a:endParaRPr lang="en-US" sz="1800" dirty="0"/>
          </a:p>
        </p:txBody>
      </p:sp>
      <p:pic>
        <p:nvPicPr>
          <p:cNvPr id="28" name="No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562856"/>
            <a:ext cx="347472" cy="347472"/>
          </a:xfrm>
          <a:prstGeom prst="rect">
            <a:avLst/>
          </a:prstGeom>
        </p:spPr>
      </p:pic>
      <p:pic>
        <p:nvPicPr>
          <p:cNvPr id="29" name="Si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4544568"/>
            <a:ext cx="384048" cy="384048"/>
          </a:xfrm>
          <a:prstGeom prst="rect">
            <a:avLst/>
          </a:prstGeom>
        </p:spPr>
      </p:pic>
      <p:sp>
        <p:nvSpPr>
          <p:cNvPr id="30" name="Row4"/>
          <p:cNvSpPr/>
          <p:nvPr/>
        </p:nvSpPr>
        <p:spPr>
          <a:xfrm>
            <a:off x="548640" y="5175504"/>
            <a:ext cx="110642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owC4"/>
          <p:cNvSpPr/>
          <p:nvPr/>
        </p:nvSpPr>
        <p:spPr>
          <a:xfrm>
            <a:off x="731520" y="5266944"/>
            <a:ext cx="475488" cy="475488"/>
          </a:xfrm>
          <a:prstGeom prst="ellipse">
            <a:avLst/>
          </a:prstGeom>
          <a:solidFill>
            <a:srgbClr val="2459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RowI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5385816"/>
            <a:ext cx="237744" cy="237744"/>
          </a:xfrm>
          <a:prstGeom prst="rect">
            <a:avLst/>
          </a:prstGeom>
        </p:spPr>
      </p:pic>
      <p:sp>
        <p:nvSpPr>
          <p:cNvPr id="33" name="RowT4"/>
          <p:cNvSpPr txBox="1"/>
          <p:nvPr/>
        </p:nvSpPr>
        <p:spPr>
          <a:xfrm>
            <a:off x="1417320" y="517550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medido por intercambio</a:t>
            </a:r>
            <a:endParaRPr lang="en-US" sz="1800" dirty="0"/>
          </a:p>
        </p:txBody>
      </p:sp>
      <p:pic>
        <p:nvPicPr>
          <p:cNvPr id="34" name="No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5330952"/>
            <a:ext cx="347472" cy="347472"/>
          </a:xfrm>
          <a:prstGeom prst="rect">
            <a:avLst/>
          </a:prstGeom>
        </p:spPr>
      </p:pic>
      <p:pic>
        <p:nvPicPr>
          <p:cNvPr id="35" name="Si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5312664"/>
            <a:ext cx="384048" cy="384048"/>
          </a:xfrm>
          <a:prstGeom prst="rect">
            <a:avLst/>
          </a:prstGeom>
        </p:spPr>
      </p:pic>
      <p:sp>
        <p:nvSpPr>
          <p:cNvPr id="36" name="Pie"/>
          <p:cNvSpPr txBox="1"/>
          <p:nvPr/>
        </p:nvSpPr>
        <p:spPr>
          <a:xfrm>
            <a:off x="54864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plataformas de gestión de residuos (Recylink, Wazte…) gestionan el residuo; Swapit ayuda a venderlo y a saber cuánto vale.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64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Siete empresas ya nos abrieron la puerta</a:t>
            </a:r>
            <a:endParaRPr lang="en-US" sz="3800" dirty="0"/>
          </a:p>
        </p:txBody>
      </p:sp>
      <p:sp>
        <p:nvSpPr>
          <p:cNvPr id="3" name="K0"/>
          <p:cNvSpPr/>
          <p:nvPr/>
        </p:nvSpPr>
        <p:spPr>
          <a:xfrm>
            <a:off x="548640" y="1600200"/>
            <a:ext cx="2651760" cy="2651760"/>
          </a:xfrm>
          <a:prstGeom prst="roundRect">
            <a:avLst>
              <a:gd name="adj" fmla="val 6897"/>
            </a:avLst>
          </a:prstGeom>
          <a:solidFill>
            <a:srgbClr val="FFF4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KN0"/>
          <p:cNvSpPr txBox="1"/>
          <p:nvPr/>
        </p:nvSpPr>
        <p:spPr>
          <a:xfrm>
            <a:off x="548640" y="16916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B34E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7200" dirty="0"/>
          </a:p>
        </p:txBody>
      </p:sp>
      <p:sp>
        <p:nvSpPr>
          <p:cNvPr id="5" name="KT0"/>
          <p:cNvSpPr txBox="1"/>
          <p:nvPr/>
        </p:nvSpPr>
        <p:spPr>
          <a:xfrm>
            <a:off x="685800" y="29260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validadas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nos invitaron a visitar su planta</a:t>
            </a:r>
            <a:endParaRPr lang="en-US" sz="1800" dirty="0"/>
          </a:p>
        </p:txBody>
      </p:sp>
      <p:sp>
        <p:nvSpPr>
          <p:cNvPr id="6" name="K1"/>
          <p:cNvSpPr/>
          <p:nvPr/>
        </p:nvSpPr>
        <p:spPr>
          <a:xfrm>
            <a:off x="3364992" y="1600200"/>
            <a:ext cx="2651760" cy="2651760"/>
          </a:xfrm>
          <a:prstGeom prst="roundRect">
            <a:avLst>
              <a:gd name="adj" fmla="val 6897"/>
            </a:avLst>
          </a:prstGeom>
          <a:solidFill>
            <a:srgbClr val="EAF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KN1"/>
          <p:cNvSpPr txBox="1"/>
          <p:nvPr/>
        </p:nvSpPr>
        <p:spPr>
          <a:xfrm>
            <a:off x="3364992" y="16916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D47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200" dirty="0"/>
          </a:p>
        </p:txBody>
      </p:sp>
      <p:sp>
        <p:nvSpPr>
          <p:cNvPr id="8" name="KT1"/>
          <p:cNvSpPr txBox="1"/>
          <p:nvPr/>
        </p:nvSpPr>
        <p:spPr>
          <a:xfrm>
            <a:off x="3502152" y="29260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profundas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una entrevista a una agroexportadora de mango</a:t>
            </a:r>
            <a:endParaRPr lang="en-US" sz="1800" dirty="0"/>
          </a:p>
        </p:txBody>
      </p:sp>
      <p:sp>
        <p:nvSpPr>
          <p:cNvPr id="9" name="K2"/>
          <p:cNvSpPr/>
          <p:nvPr/>
        </p:nvSpPr>
        <p:spPr>
          <a:xfrm>
            <a:off x="6181344" y="1600200"/>
            <a:ext cx="2651760" cy="2651760"/>
          </a:xfrm>
          <a:prstGeom prst="roundRect">
            <a:avLst>
              <a:gd name="adj" fmla="val 6897"/>
            </a:avLst>
          </a:prstGeom>
          <a:solidFill>
            <a:srgbClr val="E6F5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KN2"/>
          <p:cNvSpPr txBox="1"/>
          <p:nvPr/>
        </p:nvSpPr>
        <p:spPr>
          <a:xfrm>
            <a:off x="6181344" y="16916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2B84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7200" dirty="0"/>
          </a:p>
        </p:txBody>
      </p:sp>
      <p:sp>
        <p:nvSpPr>
          <p:cNvPr id="11" name="KT2"/>
          <p:cNvSpPr txBox="1"/>
          <p:nvPr/>
        </p:nvSpPr>
        <p:spPr>
          <a:xfrm>
            <a:off x="6318504" y="29260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productivas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residuos con sus «vidas» documentadas</a:t>
            </a:r>
            <a:endParaRPr lang="en-US" sz="1800" dirty="0"/>
          </a:p>
        </p:txBody>
      </p:sp>
      <p:sp>
        <p:nvSpPr>
          <p:cNvPr id="12" name="K3"/>
          <p:cNvSpPr/>
          <p:nvPr/>
        </p:nvSpPr>
        <p:spPr>
          <a:xfrm>
            <a:off x="8997696" y="1600200"/>
            <a:ext cx="2651760" cy="2651760"/>
          </a:xfrm>
          <a:prstGeom prst="roundRect">
            <a:avLst>
              <a:gd name="adj" fmla="val 6897"/>
            </a:avLst>
          </a:prstGeom>
          <a:solidFill>
            <a:srgbClr val="DD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KN3"/>
          <p:cNvSpPr txBox="1"/>
          <p:nvPr/>
        </p:nvSpPr>
        <p:spPr>
          <a:xfrm>
            <a:off x="8997696" y="16916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C84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160</a:t>
            </a:r>
            <a:endParaRPr lang="en-US" sz="7200" dirty="0"/>
          </a:p>
        </p:txBody>
      </p:sp>
      <p:sp>
        <p:nvSpPr>
          <p:cNvPr id="14" name="KT3"/>
          <p:cNvSpPr txBox="1"/>
          <p:nvPr/>
        </p:nvSpPr>
        <p:spPr>
          <a:xfrm>
            <a:off x="9134856" y="292608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de punta a punta</a:t>
            </a:r>
            <a:endParaRPr lang="en-US" sz="1800" dirty="0"/>
          </a:p>
        </p:txBody>
      </p:sp>
      <p:pic>
        <p:nvPicPr>
          <p:cNvPr id="15" name="Foto0" descr="D:\Seedtech\simbio\docs\pitch\assets\foto-man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4526280"/>
            <a:ext cx="1783080" cy="1188720"/>
          </a:xfrm>
          <a:prstGeom prst="rect">
            <a:avLst/>
          </a:prstGeom>
        </p:spPr>
      </p:pic>
      <p:pic>
        <p:nvPicPr>
          <p:cNvPr id="16" name="Foto1" descr="D:\Seedtech\simbio\docs\pitch\assets\foto-conch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23160" y="4526280"/>
            <a:ext cx="1783080" cy="1188720"/>
          </a:xfrm>
          <a:prstGeom prst="rect">
            <a:avLst/>
          </a:prstGeom>
        </p:spPr>
      </p:pic>
      <p:pic>
        <p:nvPicPr>
          <p:cNvPr id="17" name="Foto2" descr="D:\Seedtech\simbio\docs\pitch\assets\foto-film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97680" y="4526280"/>
            <a:ext cx="1783080" cy="1188720"/>
          </a:xfrm>
          <a:prstGeom prst="rect">
            <a:avLst/>
          </a:prstGeom>
        </p:spPr>
      </p:pic>
      <p:pic>
        <p:nvPicPr>
          <p:cNvPr id="18" name="Foto3" descr="D:\Seedtech\simbio\docs\pitch\assets\foto-carto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2200" y="4526280"/>
            <a:ext cx="1783080" cy="1188720"/>
          </a:xfrm>
          <a:prstGeom prst="rect">
            <a:avLst/>
          </a:prstGeom>
        </p:spPr>
      </p:pic>
      <p:pic>
        <p:nvPicPr>
          <p:cNvPr id="19" name="Foto4" descr="D:\Seedtech\simbio\docs\pitch\assets\foto-textil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46720" y="4526280"/>
            <a:ext cx="1783080" cy="1188720"/>
          </a:xfrm>
          <a:prstGeom prst="rect">
            <a:avLst/>
          </a:prstGeom>
        </p:spPr>
      </p:pic>
      <p:pic>
        <p:nvPicPr>
          <p:cNvPr id="20" name="Foto5" descr="D:\Seedtech\simbio\docs\pitch\assets\foto-pallets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21240" y="4526280"/>
            <a:ext cx="1783080" cy="1188720"/>
          </a:xfrm>
          <a:prstGeom prst="rect">
            <a:avLst/>
          </a:prstGeom>
        </p:spPr>
      </p:pic>
      <p:sp>
        <p:nvSpPr>
          <p:cNvPr id="21" name="Pie"/>
          <p:cNvSpPr txBox="1"/>
          <p:nvPr/>
        </p:nvSpPr>
        <p:spPr>
          <a:xfrm>
            <a:off x="54864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ofertas de demostración de 15 empresas ficticias · imágenes ilustrativas. Las empresas reales las suben las MIPEs.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40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50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Construimos y salimos a validar</a:t>
            </a:r>
            <a:endParaRPr lang="en-US" sz="3800" dirty="0"/>
          </a:p>
        </p:txBody>
      </p:sp>
      <p:sp>
        <p:nvSpPr>
          <p:cNvPr id="3" name="Av0"/>
          <p:cNvSpPr/>
          <p:nvPr/>
        </p:nvSpPr>
        <p:spPr>
          <a:xfrm>
            <a:off x="2194560" y="1691640"/>
            <a:ext cx="2286000" cy="2286000"/>
          </a:xfrm>
          <a:prstGeom prst="ellipse">
            <a:avLst/>
          </a:prstGeom>
          <a:solidFill>
            <a:srgbClr val="1D47AD"/>
          </a:solidFill>
          <a:ln w="635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AvT0"/>
          <p:cNvSpPr txBox="1"/>
          <p:nvPr/>
        </p:nvSpPr>
        <p:spPr>
          <a:xfrm>
            <a:off x="2194560" y="1691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</a:t>
            </a:r>
            <a:endParaRPr lang="en-US" sz="6000" dirty="0"/>
          </a:p>
        </p:txBody>
      </p:sp>
      <p:sp>
        <p:nvSpPr>
          <p:cNvPr id="5" name="Nom0"/>
          <p:cNvSpPr txBox="1"/>
          <p:nvPr/>
        </p:nvSpPr>
        <p:spPr>
          <a:xfrm>
            <a:off x="1645920" y="4114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David Blas</a:t>
            </a:r>
            <a:endParaRPr lang="en-US" sz="2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SeedTech UDEP 2026</a:t>
            </a:r>
            <a:endParaRPr lang="en-US" sz="2800" dirty="0"/>
          </a:p>
        </p:txBody>
      </p:sp>
      <p:sp>
        <p:nvSpPr>
          <p:cNvPr id="6" name="Av1"/>
          <p:cNvSpPr/>
          <p:nvPr/>
        </p:nvSpPr>
        <p:spPr>
          <a:xfrm>
            <a:off x="7680960" y="1691640"/>
            <a:ext cx="2286000" cy="2286000"/>
          </a:xfrm>
          <a:prstGeom prst="ellipse">
            <a:avLst/>
          </a:prstGeom>
          <a:solidFill>
            <a:srgbClr val="FF8A00"/>
          </a:solidFill>
          <a:ln w="635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E2352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vT1"/>
          <p:cNvSpPr txBox="1"/>
          <p:nvPr/>
        </p:nvSpPr>
        <p:spPr>
          <a:xfrm>
            <a:off x="7680960" y="16916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JF</a:t>
            </a:r>
            <a:endParaRPr lang="en-US" sz="6000" dirty="0"/>
          </a:p>
        </p:txBody>
      </p:sp>
      <p:sp>
        <p:nvSpPr>
          <p:cNvPr id="8" name="Nom1"/>
          <p:cNvSpPr txBox="1"/>
          <p:nvPr/>
        </p:nvSpPr>
        <p:spPr>
          <a:xfrm>
            <a:off x="7132320" y="4114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Josué Farfán</a:t>
            </a:r>
            <a:endParaRPr lang="en-US" sz="2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SeedTech UDEP 2026</a:t>
            </a:r>
            <a:endParaRPr lang="en-US" sz="2800" dirty="0"/>
          </a:p>
        </p:txBody>
      </p:sp>
      <p:sp>
        <p:nvSpPr>
          <p:cNvPr id="9" name="Ch0"/>
          <p:cNvSpPr/>
          <p:nvPr/>
        </p:nvSpPr>
        <p:spPr>
          <a:xfrm>
            <a:off x="1097280" y="5257800"/>
            <a:ext cx="329184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hC0"/>
          <p:cNvSpPr/>
          <p:nvPr/>
        </p:nvSpPr>
        <p:spPr>
          <a:xfrm>
            <a:off x="1234440" y="5376672"/>
            <a:ext cx="548640" cy="548640"/>
          </a:xfrm>
          <a:prstGeom prst="ellipse">
            <a:avLst/>
          </a:prstGeom>
          <a:solidFill>
            <a:srgbClr val="2459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ChI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513832"/>
            <a:ext cx="274320" cy="274320"/>
          </a:xfrm>
          <a:prstGeom prst="rect">
            <a:avLst/>
          </a:prstGeom>
        </p:spPr>
      </p:pic>
      <p:sp>
        <p:nvSpPr>
          <p:cNvPr id="12" name="ChT0"/>
          <p:cNvSpPr txBox="1"/>
          <p:nvPr/>
        </p:nvSpPr>
        <p:spPr>
          <a:xfrm>
            <a:off x="1920240" y="5257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</a:t>
            </a:r>
            <a:endParaRPr lang="en-US" sz="1600" dirty="0"/>
          </a:p>
        </p:txBody>
      </p:sp>
      <p:sp>
        <p:nvSpPr>
          <p:cNvPr id="13" name="Ch1"/>
          <p:cNvSpPr/>
          <p:nvPr/>
        </p:nvSpPr>
        <p:spPr>
          <a:xfrm>
            <a:off x="4663440" y="5257800"/>
            <a:ext cx="329184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hC1"/>
          <p:cNvSpPr/>
          <p:nvPr/>
        </p:nvSpPr>
        <p:spPr>
          <a:xfrm>
            <a:off x="4800600" y="5376672"/>
            <a:ext cx="548640" cy="548640"/>
          </a:xfrm>
          <a:prstGeom prst="ellipse">
            <a:avLst/>
          </a:prstGeom>
          <a:solidFill>
            <a:srgbClr val="B34E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ChI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5513832"/>
            <a:ext cx="274320" cy="274320"/>
          </a:xfrm>
          <a:prstGeom prst="rect">
            <a:avLst/>
          </a:prstGeom>
        </p:spPr>
      </p:pic>
      <p:sp>
        <p:nvSpPr>
          <p:cNvPr id="16" name="ChT1"/>
          <p:cNvSpPr txBox="1"/>
          <p:nvPr/>
        </p:nvSpPr>
        <p:spPr>
          <a:xfrm>
            <a:off x="5486400" y="5257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empresas</a:t>
            </a:r>
            <a:endParaRPr lang="en-US" sz="1600" dirty="0"/>
          </a:p>
        </p:txBody>
      </p:sp>
      <p:sp>
        <p:nvSpPr>
          <p:cNvPr id="17" name="Ch2"/>
          <p:cNvSpPr/>
          <p:nvPr/>
        </p:nvSpPr>
        <p:spPr>
          <a:xfrm>
            <a:off x="8229600" y="5257800"/>
            <a:ext cx="3291840" cy="777240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hC2"/>
          <p:cNvSpPr/>
          <p:nvPr/>
        </p:nvSpPr>
        <p:spPr>
          <a:xfrm>
            <a:off x="8366760" y="5376672"/>
            <a:ext cx="548640" cy="548640"/>
          </a:xfrm>
          <a:prstGeom prst="ellipse">
            <a:avLst/>
          </a:prstGeom>
          <a:solidFill>
            <a:srgbClr val="0C846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ChI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5513832"/>
            <a:ext cx="274320" cy="274320"/>
          </a:xfrm>
          <a:prstGeom prst="rect">
            <a:avLst/>
          </a:prstGeom>
        </p:spPr>
      </p:pic>
      <p:sp>
        <p:nvSpPr>
          <p:cNvPr id="20" name="ChT2"/>
          <p:cNvSpPr txBox="1"/>
          <p:nvPr/>
        </p:nvSpPr>
        <p:spPr>
          <a:xfrm>
            <a:off x="9052560" y="5257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de mercado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8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l"/>
          <p:cNvSpPr/>
          <p:nvPr/>
        </p:nvSpPr>
        <p:spPr>
          <a:xfrm>
            <a:off x="-2377440" y="5669280"/>
            <a:ext cx="4572000" cy="4572000"/>
          </a:xfrm>
          <a:prstGeom prst="ellipse">
            <a:avLst/>
          </a:prstGeom>
          <a:solidFill>
            <a:srgbClr val="FF8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Limon"/>
          <p:cNvSpPr/>
          <p:nvPr/>
        </p:nvSpPr>
        <p:spPr>
          <a:xfrm>
            <a:off x="10607040" y="-731520"/>
            <a:ext cx="2011680" cy="2011680"/>
          </a:xfrm>
          <a:prstGeom prst="ellipse">
            <a:avLst/>
          </a:prstGeom>
          <a:solidFill>
            <a:srgbClr val="FFD6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Logo" descr="D:\Seedtech\simbio\docs\pitch\assets\logo-horizontal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194560" cy="512064"/>
          </a:xfrm>
          <a:prstGeom prst="rect">
            <a:avLst/>
          </a:prstGeom>
        </p:spPr>
      </p:pic>
      <p:sp>
        <p:nvSpPr>
          <p:cNvPr id="5" name="Titular"/>
          <p:cNvSpPr txBox="1"/>
          <p:nvPr/>
        </p:nvSpPr>
        <p:spPr>
          <a:xfrm>
            <a:off x="548640" y="1417320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 próximo descarte puede tener comprador.</a:t>
            </a:r>
            <a:endParaRPr lang="en-US" sz="4600" dirty="0"/>
          </a:p>
        </p:txBody>
      </p:sp>
      <p:sp>
        <p:nvSpPr>
          <p:cNvPr id="6" name="Boton1"/>
          <p:cNvSpPr/>
          <p:nvPr/>
        </p:nvSpPr>
        <p:spPr>
          <a:xfrm>
            <a:off x="548640" y="3749040"/>
            <a:ext cx="4572000" cy="868680"/>
          </a:xfrm>
          <a:prstGeom prst="roundRect">
            <a:avLst>
              <a:gd name="adj" fmla="val 47368"/>
            </a:avLst>
          </a:prstGeom>
          <a:solidFill>
            <a:srgbClr val="FF8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Boton1T"/>
          <p:cNvSpPr txBox="1"/>
          <p:nvPr/>
        </p:nvSpPr>
        <p:spPr>
          <a:xfrm>
            <a:off x="548640" y="3749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piloto en su planta</a:t>
            </a:r>
            <a:endParaRPr lang="en-US" sz="2200" dirty="0"/>
          </a:p>
        </p:txBody>
      </p:sp>
      <p:sp>
        <p:nvSpPr>
          <p:cNvPr id="8" name="Boton2"/>
          <p:cNvSpPr/>
          <p:nvPr/>
        </p:nvSpPr>
        <p:spPr>
          <a:xfrm>
            <a:off x="548640" y="4800600"/>
            <a:ext cx="4572000" cy="868680"/>
          </a:xfrm>
          <a:prstGeom prst="roundRect">
            <a:avLst>
              <a:gd name="adj" fmla="val 47368"/>
            </a:avLst>
          </a:prstGeom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oton2T"/>
          <p:cNvSpPr txBox="1"/>
          <p:nvPr/>
        </p:nvSpPr>
        <p:spPr>
          <a:xfrm>
            <a:off x="548640" y="48006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Presentaciones a compradores</a:t>
            </a:r>
            <a:endParaRPr lang="en-US" sz="2200" dirty="0"/>
          </a:p>
        </p:txBody>
      </p:sp>
      <p:sp>
        <p:nvSpPr>
          <p:cNvPr id="10" name="QR"/>
          <p:cNvSpPr/>
          <p:nvPr/>
        </p:nvSpPr>
        <p:spPr>
          <a:xfrm>
            <a:off x="8229600" y="2926080"/>
            <a:ext cx="301752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A9C2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QRT"/>
          <p:cNvSpPr txBox="1"/>
          <p:nvPr/>
        </p:nvSpPr>
        <p:spPr>
          <a:xfrm>
            <a:off x="8229600" y="29260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3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de contacto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B6B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pega aquí el QR del equipo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A9C2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l"/>
          <p:cNvSpPr/>
          <p:nvPr/>
        </p:nvSpPr>
        <p:spPr>
          <a:xfrm>
            <a:off x="9052560" y="-1280160"/>
            <a:ext cx="4572000" cy="4572000"/>
          </a:xfrm>
          <a:prstGeom prst="ellipse">
            <a:avLst/>
          </a:prstGeom>
          <a:solidFill>
            <a:srgbClr val="FF8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Limon"/>
          <p:cNvSpPr/>
          <p:nvPr/>
        </p:nvSpPr>
        <p:spPr>
          <a:xfrm>
            <a:off x="5394960" y="5394960"/>
            <a:ext cx="1463040" cy="1463040"/>
          </a:xfrm>
          <a:prstGeom prst="ellipse">
            <a:avLst/>
          </a:prstGeom>
          <a:solidFill>
            <a:srgbClr val="FFD60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Logo" descr="D:\Seedtech\simbio\docs\pitch\assets\logo-horizontal-bl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7200"/>
            <a:ext cx="2194560" cy="512064"/>
          </a:xfrm>
          <a:prstGeom prst="rect">
            <a:avLst/>
          </a:prstGeom>
        </p:spPr>
      </p:pic>
      <p:sp>
        <p:nvSpPr>
          <p:cNvPr id="5" name="Kicker"/>
          <p:cNvSpPr txBox="1"/>
          <p:nvPr/>
        </p:nvSpPr>
        <p:spPr>
          <a:xfrm>
            <a:off x="54864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SEEDTECH UDEP 2026  ·  PIURA</a:t>
            </a:r>
            <a:endParaRPr lang="en-US" sz="1600" dirty="0"/>
          </a:p>
        </p:txBody>
      </p:sp>
      <p:sp>
        <p:nvSpPr>
          <p:cNvPr id="6" name="Titular"/>
          <p:cNvSpPr txBox="1"/>
          <p:nvPr/>
        </p:nvSpPr>
        <p:spPr>
          <a:xfrm>
            <a:off x="548640" y="2240280"/>
            <a:ext cx="5394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a uno le sobra, a otro le falta.</a:t>
            </a:r>
            <a:endParaRPr lang="en-US" sz="4600" dirty="0"/>
          </a:p>
        </p:txBody>
      </p:sp>
      <p:sp>
        <p:nvSpPr>
          <p:cNvPr id="7" name="Bajada"/>
          <p:cNvSpPr txBox="1"/>
          <p:nvPr/>
        </p:nvSpPr>
        <p:spPr>
          <a:xfrm>
            <a:off x="548640" y="4754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de excedentes y residuos aprovechables entre empresas del norte del Perú</a:t>
            </a:r>
            <a:endParaRPr lang="en-US" sz="2000" dirty="0"/>
          </a:p>
        </p:txBody>
      </p:sp>
      <p:pic>
        <p:nvPicPr>
          <p:cNvPr id="8" name="Video descart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263640" y="1325880"/>
            <a:ext cx="5486400" cy="3086100"/>
          </a:xfrm>
          <a:prstGeom prst="rect">
            <a:avLst/>
          </a:prstGeom>
        </p:spPr>
      </p:pic>
      <p:sp>
        <p:nvSpPr>
          <p:cNvPr id="9" name="Pie video"/>
          <p:cNvSpPr txBox="1"/>
          <p:nvPr/>
        </p:nvSpPr>
        <p:spPr>
          <a:xfrm>
            <a:off x="6263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Recreación ilustrativa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A9C2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wapit">
  <a:themeElements>
    <a:clrScheme name="Swapit">
      <a:dk1>
        <a:srgbClr val="0F1B33"/>
      </a:dk1>
      <a:lt1>
        <a:srgbClr val="FFFFFF"/>
      </a:lt1>
      <a:dk2>
        <a:srgbClr val="0E2352"/>
      </a:dk2>
      <a:lt2>
        <a:srgbClr val="F8FAFD"/>
      </a:lt2>
      <a:accent1>
        <a:srgbClr val="FF8A00"/>
      </a:accent1>
      <a:accent2>
        <a:srgbClr val="2459D6"/>
      </a:accent2>
      <a:accent3>
        <a:srgbClr val="FFD60A"/>
      </a:accent3>
      <a:accent4>
        <a:srgbClr val="2B8412"/>
      </a:accent4>
      <a:accent5>
        <a:srgbClr val="0A7F96"/>
      </a:accent5>
      <a:accent6>
        <a:srgbClr val="8B3FD9"/>
      </a:accent6>
      <a:hlink>
        <a:srgbClr val="2459D6"/>
      </a:hlink>
      <a:folHlink>
        <a:srgbClr val="1D47AD"/>
      </a:folHlink>
    </a:clrScheme>
    <a:fontScheme name="Swapit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1929</Words>
  <Application>Microsoft Office PowerPoint</Application>
  <PresentationFormat>Widescreen</PresentationFormat>
  <Paragraphs>136</Paragraphs>
  <Slides>10</Slides>
  <Notes>10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Swapit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Swapit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Swapit — Pitch SeedTech UDEP 2026</dc:title>
  <dc:subject>PptxGenJS Presentation</dc:subject>
  <dc:creator>David Blas y Josué Farfán</dc:creator>
  <cp:lastModifiedBy>David Blas Ybañez</cp:lastModifiedBy>
  <cp:revision>2</cp:revision>
  <dcterms:created xsi:type="dcterms:W3CDTF">2026-10-22T23:42:20Z</dcterms:created>
  <dcterms:modified xsi:type="dcterms:W3CDTF">2026-10-23T00:23:59Z</dcterms:modified>
</cp:coreProperties>
</file>